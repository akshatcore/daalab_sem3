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/>
      <p:bold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270027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62000" y="2549872"/>
            <a:ext cx="1143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JetBrains Mono"/>
              </a:rPr>
              <a:t>GRAPH THEORY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873722"/>
            <a:ext cx="8162544" cy="41703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900" b="1" i="0" u="none" dirty="0">
                <a:solidFill>
                  <a:srgbClr val="F8FAFC"/>
                </a:solidFill>
                <a:latin typeface="Plus Jakarta Sans"/>
              </a:rPr>
              <a:t>Bellman–Ford Algorithms</a:t>
            </a:r>
            <a:br>
              <a:rPr lang="en-US" sz="3900" b="1" i="0" u="none" dirty="0">
                <a:solidFill>
                  <a:srgbClr val="F8FAFC"/>
                </a:solidFill>
                <a:latin typeface="Plus Jakarta Sans"/>
              </a:rPr>
            </a:br>
            <a:br>
              <a:rPr lang="en-US" sz="3900" b="1" i="0" u="none" dirty="0">
                <a:solidFill>
                  <a:srgbClr val="F8FAFC"/>
                </a:solidFill>
                <a:latin typeface="Plus Jakarta Sans"/>
              </a:rPr>
            </a:br>
            <a:br>
              <a:rPr lang="en-US" sz="3900" b="1" i="0" u="none" dirty="0">
                <a:solidFill>
                  <a:srgbClr val="F8FAFC"/>
                </a:solidFill>
                <a:latin typeface="Plus Jakarta Sans"/>
              </a:rPr>
            </a:br>
            <a:r>
              <a:rPr lang="en-US" sz="1900" b="1" i="0" u="none" dirty="0">
                <a:solidFill>
                  <a:srgbClr val="F8FAFC"/>
                </a:solidFill>
                <a:latin typeface="Plus Jakarta Sans"/>
              </a:rPr>
              <a:t>Akshat Tiwari </a:t>
            </a:r>
            <a:br>
              <a:rPr lang="en-US" sz="1900" b="1" i="0" u="none" dirty="0">
                <a:solidFill>
                  <a:srgbClr val="F8FAFC"/>
                </a:solidFill>
                <a:latin typeface="Plus Jakarta Sans"/>
              </a:rPr>
            </a:br>
            <a:r>
              <a:rPr lang="en-US" sz="1900" b="1" i="0" u="none" dirty="0">
                <a:solidFill>
                  <a:srgbClr val="F8FAFC"/>
                </a:solidFill>
                <a:latin typeface="Plus Jakarta Sans"/>
              </a:rPr>
              <a:t>PRN:- 26070521502</a:t>
            </a:r>
            <a:br>
              <a:rPr lang="en-US" sz="1900" b="1" i="0" u="none" dirty="0">
                <a:solidFill>
                  <a:srgbClr val="F8FAFC"/>
                </a:solidFill>
                <a:latin typeface="Plus Jakarta Sans"/>
              </a:rPr>
            </a:br>
            <a:r>
              <a:rPr lang="en-US" sz="1900" b="1" i="0" u="none" dirty="0">
                <a:solidFill>
                  <a:srgbClr val="F8FAFC"/>
                </a:solidFill>
                <a:latin typeface="Plus Jakarta Sans"/>
              </a:rPr>
              <a:t>Sem:-3  </a:t>
            </a:r>
            <a:br>
              <a:rPr lang="en-US" sz="1900" b="1" i="0" u="none" dirty="0">
                <a:solidFill>
                  <a:srgbClr val="F8FAFC"/>
                </a:solidFill>
                <a:latin typeface="Plus Jakarta Sans"/>
              </a:rPr>
            </a:br>
            <a:r>
              <a:rPr lang="en-US" sz="1900" b="1" i="0" u="none" dirty="0">
                <a:solidFill>
                  <a:srgbClr val="F8FAFC"/>
                </a:solidFill>
                <a:latin typeface="Plus Jakarta Sans"/>
              </a:rPr>
              <a:t>Section:-D</a:t>
            </a:r>
            <a:br>
              <a:rPr lang="en-US" sz="3900" b="1" i="0" u="none" dirty="0">
                <a:solidFill>
                  <a:srgbClr val="F8FAFC"/>
                </a:solidFill>
                <a:latin typeface="Plus Jakarta Sans"/>
              </a:rPr>
            </a:br>
            <a:br>
              <a:rPr lang="en-US" sz="3900" b="1" i="0" u="none" dirty="0">
                <a:solidFill>
                  <a:srgbClr val="F8FAFC"/>
                </a:solidFill>
                <a:latin typeface="Plus Jakarta Sans"/>
              </a:rPr>
            </a:br>
            <a:endParaRPr sz="39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3633787"/>
            <a:ext cx="8334375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Single-Source Shortest Path in Weighted Graphs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7037"/>
            <a:ext cx="350520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67050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67050"/>
            <a:ext cx="350520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19462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419475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419475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Core definition and foundational capabilities.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81412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Single-Source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976687"/>
            <a:ext cx="29718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Calculates shortest distances from a single source vertex to every reachable vertex.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8142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Negative Weights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76700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Works seamlessly with both positive and negative edge weights in graphs.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8142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Cycle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76700"/>
            <a:ext cx="29718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Can identify negative-weight cycles reachable from the source vertex.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57487"/>
            <a:ext cx="5334000" cy="2343150"/>
          </a:xfrm>
          <a:prstGeom prst="roundRect">
            <a:avLst>
              <a:gd name="adj" fmla="val 48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47987"/>
            <a:ext cx="5334000" cy="1962150"/>
          </a:xfrm>
          <a:prstGeom prst="roundRect">
            <a:avLst>
              <a:gd name="adj" fmla="val 582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Basic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The underlying mechanics of edge relaxation.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148012"/>
            <a:ext cx="5691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TECHNIQUE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433762"/>
            <a:ext cx="597574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Edge Relaxation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3871912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Checks whether reaching a vertex through another intermediate vertex provides a shorter path.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125" y="4481512"/>
            <a:ext cx="5691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If a shorter path is found, the distance is updated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338512"/>
            <a:ext cx="5553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66534"/>
                </a:solidFill>
                <a:latin typeface="JetBrains Mono"/>
              </a:rPr>
              <a:t>PROGRESSION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624262"/>
            <a:ext cx="55530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66534"/>
                </a:solidFill>
                <a:latin typeface="Plus Jakarta Sans"/>
              </a:rPr>
              <a:t>Gradual Improvement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4062412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166534"/>
                </a:solidFill>
                <a:latin typeface="Plus Jakarta Sans"/>
              </a:rPr>
              <a:t>By repeatedly relaxing all edges across multiple passes, the estimated shortest distances steadily improve until optimal.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956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956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8468"/>
            <a:ext cx="3505200" cy="1881187"/>
          </a:xfrm>
          <a:prstGeom prst="roundRect">
            <a:avLst>
              <a:gd name="adj" fmla="val 607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Step-by-Step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The three main phases of algorithm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409950"/>
            <a:ext cx="3595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68617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Initialization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4019550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Set source distance to 0, all other vertices to infinity, and initialize predecessors.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409950"/>
            <a:ext cx="3595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57725" y="3686175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Edge Relaxation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4019550"/>
            <a:ext cx="29718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Repeat for V − 1 iterations, updating dist[v] if dist[u] + w &lt; dist[v].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1525" y="3302793"/>
            <a:ext cx="3595687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579018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Cycle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3912393"/>
            <a:ext cx="297180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Perform one extra pass to check if any edge can still be relaxed (detecting negative cycles).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33525"/>
            <a:ext cx="10972800" cy="4791075"/>
          </a:xfrm>
          <a:prstGeom prst="roundRect">
            <a:avLst>
              <a:gd name="adj" fmla="val 31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Relaxation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The mathematical condition for updating distances.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67125" y="3200400"/>
            <a:ext cx="4857750" cy="704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284C7"/>
                </a:solidFill>
                <a:latin typeface="JetBrains Mono"/>
              </a:rPr>
              <a:t>If dist[u] + w &lt; dist[v] </a:t>
            </a:r>
            <a:r>
              <a:t>
</a:t>
            </a:r>
            <a:r>
              <a:rPr sz="1800" b="1" i="0" u="none">
                <a:solidFill>
                  <a:srgbClr val="0F172A"/>
                </a:solidFill>
                <a:latin typeface="JetBrains Mono"/>
              </a:rPr>
              <a:t>then dist[v] = dist[u] +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4133850"/>
            <a:ext cx="8334375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For an edge from vertex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u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to vertex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v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with weight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w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, this updates the distance only when a strictly shorter route is discovered.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2750"/>
            <a:ext cx="5334000" cy="1952625"/>
          </a:xfrm>
          <a:prstGeom prst="roundRect">
            <a:avLst>
              <a:gd name="adj" fmla="val 58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843212"/>
            <a:ext cx="5334000" cy="217170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Why V − 1 Iterations?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Understanding the upper bound on simple paths.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343275"/>
            <a:ext cx="5691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PATH 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629025"/>
            <a:ext cx="59757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At Most V − 1 Edges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048125"/>
            <a:ext cx="464820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 simple shortest path without repeated vertices across a graph of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V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vertices can contain at most </a:t>
            </a:r>
            <a:r>
              <a:rPr sz="1200" b="1" i="0" u="none">
                <a:solidFill>
                  <a:srgbClr val="334155"/>
                </a:solidFill>
                <a:latin typeface="Plus Jakarta Sans"/>
              </a:rPr>
              <a:t>V − 1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edges.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33737"/>
            <a:ext cx="5553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PROPAGATION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519487"/>
            <a:ext cx="55530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Complete Convergence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3938587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Each complete iteration propagates information across additional edges, ensuring full convergence when no negative cycle exists.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09925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95625"/>
            <a:ext cx="35052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09925"/>
            <a:ext cx="3505200" cy="1438275"/>
          </a:xfrm>
          <a:prstGeom prst="roundRect">
            <a:avLst>
              <a:gd name="adj" fmla="val 79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Negative-Weight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Cycles with total edge weight less than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242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Infinite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76675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Repeatedly travelling around such a cycle reduces path cost indefinitely.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4099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No Finite Distance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762375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A finite shortest distance does not exist for vertices reachable through the cycle.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52425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Detection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876675"/>
            <a:ext cx="2971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Bellman–Ford identifies these cycles when reachable from the source.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5365"/>
            <a:ext cx="3530649" cy="1816893"/>
          </a:xfrm>
          <a:prstGeom prst="roundRect">
            <a:avLst>
              <a:gd name="adj" fmla="val 62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30749" y="3016746"/>
            <a:ext cx="3530649" cy="1634132"/>
          </a:xfrm>
          <a:prstGeom prst="roundRect">
            <a:avLst>
              <a:gd name="adj" fmla="val 69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3055739"/>
            <a:ext cx="3530649" cy="1556146"/>
          </a:xfrm>
          <a:prstGeom prst="roundRect">
            <a:avLst>
              <a:gd name="adj" fmla="val 734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F172A"/>
                </a:solidFill>
                <a:latin typeface="Plus Jakarta Sans"/>
              </a:rPr>
              <a:t>Worked Example: Bellman–Ford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89535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Directed weighted graph with 5 vertices (0 to 4), source vertex 0. Edges: (0→1: 4), (0→2: 5), (1→2: −2), (1→3: 6), (2→3: 3), (2→4: 2), (3→4: 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163490"/>
            <a:ext cx="381799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STEP 1 &amp;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401615"/>
            <a:ext cx="400889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Init &amp; Relaxation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668315"/>
            <a:ext cx="3817999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dist = </a:t>
            </a:r>
            <a:r>
              <a:rPr sz="975" b="0" i="0" u="none">
                <a:solidFill>
                  <a:srgbClr val="0284C7"/>
                </a:solidFill>
                <a:latin typeface="Plus Jakarta Sans"/>
              </a:rPr>
              <a:t>[0, ∞, ∞, ∞, ∞]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908226"/>
            <a:ext cx="3817999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0→1 (wt 4): </a:t>
            </a:r>
            <a:r>
              <a:rPr sz="975" b="0" i="0" u="none">
                <a:solidFill>
                  <a:srgbClr val="0284C7"/>
                </a:solidFill>
                <a:latin typeface="Plus Jakarta Sans"/>
              </a:rPr>
              <a:t>dist[1] =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148137"/>
            <a:ext cx="3149649" cy="355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1→2 (wt −2): </a:t>
            </a:r>
            <a:r>
              <a:rPr sz="975" b="0" i="0" u="none">
                <a:solidFill>
                  <a:srgbClr val="0284C7"/>
                </a:solidFill>
                <a:latin typeface="Plus Jakarta Sans"/>
              </a:rPr>
              <a:t>dist[2] = 2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(improved by negative edge)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874" y="3254871"/>
            <a:ext cx="381799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STEP 3 &amp;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874" y="3492996"/>
            <a:ext cx="400889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V − 1 Iterations &amp;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759696"/>
            <a:ext cx="3817999" cy="1732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1" i="0" u="none">
                <a:solidFill>
                  <a:srgbClr val="334155"/>
                </a:solidFill>
                <a:latin typeface="Plus Jakarta Sans"/>
              </a:rPr>
              <a:t>4 passes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stabilize shortest paths.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990082"/>
            <a:ext cx="3817999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Vertex 4 Dist: </a:t>
            </a:r>
            <a:r>
              <a:rPr sz="975" b="1" i="0" u="none">
                <a:solidFill>
                  <a:srgbClr val="0284C7"/>
                </a:solidFill>
                <a:latin typeface="Plus Jakarta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4229992"/>
            <a:ext cx="3817999" cy="182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Path to 4: </a:t>
            </a:r>
            <a:r>
              <a:rPr sz="975" b="1" i="0" u="none">
                <a:solidFill>
                  <a:srgbClr val="0F172A"/>
                </a:solidFill>
                <a:latin typeface="Plus Jakarta Sans"/>
              </a:rPr>
              <a:t>0 → 1 → 2 →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293864"/>
            <a:ext cx="381799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284C7"/>
                </a:solidFill>
                <a:latin typeface="JetBrains Mono"/>
              </a:rPr>
              <a:t>STEP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3531989"/>
            <a:ext cx="39019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Cycle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3798689"/>
            <a:ext cx="3149649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sz="975" b="0" i="0" u="none">
                <a:solidFill>
                  <a:srgbClr val="334155"/>
                </a:solidFill>
                <a:latin typeface="Plus Jakarta Sans"/>
              </a:rPr>
              <a:t>One additional pass over all edges. No distance can be reduced further.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024" y="4221360"/>
            <a:ext cx="3817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6534"/>
                </a:solidFill>
                <a:latin typeface="Plus Jakarta Sans"/>
              </a:rPr>
              <a:t>No negative cycle detected.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2262"/>
            <a:ext cx="529590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862262"/>
            <a:ext cx="5295900" cy="2133600"/>
          </a:xfrm>
          <a:prstGeom prst="roundRect">
            <a:avLst>
              <a:gd name="adj" fmla="val 53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Time and Space Complexity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Efficiency breakdown in terms of vertices (V) and edges (E).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252787"/>
            <a:ext cx="5643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TIME 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3538537"/>
            <a:ext cx="5643562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JetBrains Mono"/>
              </a:rPr>
              <a:t>O(V × 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4148137"/>
            <a:ext cx="4610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Relaxes all E edges for V − 1 iterations plus one extra cycle-detection pass.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3252787"/>
            <a:ext cx="55149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JetBrains Mono"/>
              </a:rPr>
              <a:t>SPACE COMPLEXITY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3538537"/>
            <a:ext cx="5514975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JetBrains Mono"/>
              </a:rPr>
              <a:t>O(V)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4148137"/>
            <a:ext cx="4610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Plus Jakarta Sans"/>
              </a:rPr>
              <a:t>Required for distance and predecessor arrays, excluding graph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67037"/>
            <a:ext cx="257175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967037"/>
            <a:ext cx="257175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067050"/>
            <a:ext cx="2571750" cy="1724025"/>
          </a:xfrm>
          <a:prstGeom prst="roundRect">
            <a:avLst>
              <a:gd name="adj" fmla="val 66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967037"/>
            <a:ext cx="2571750" cy="1924050"/>
          </a:xfrm>
          <a:prstGeom prst="roundRect">
            <a:avLst>
              <a:gd name="adj" fmla="val 594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19462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3319462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419475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3319462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Real-world scenarios and domains.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681412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Network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76687"/>
            <a:ext cx="2038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Communication systems and distributed routing protocols.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3681412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Negative 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4275" y="3976687"/>
            <a:ext cx="2038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Calculations involving costs, penalties, or negative edge weights.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378142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Cycle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4076700"/>
            <a:ext cx="20383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Identifying negative-weight cycles in weighted graphs.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3681412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Cost Optimization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975" y="3976687"/>
            <a:ext cx="20383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334155"/>
                </a:solidFill>
                <a:latin typeface="Plus Jakarta Sans"/>
              </a:rPr>
              <a:t>Transportation networks and economic arbitrage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9504"/>
            <a:ext cx="5334000" cy="1979116"/>
          </a:xfrm>
          <a:prstGeom prst="roundRect">
            <a:avLst>
              <a:gd name="adj" fmla="val 577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2939504"/>
            <a:ext cx="5334000" cy="1979116"/>
          </a:xfrm>
          <a:prstGeom prst="roundRect">
            <a:avLst>
              <a:gd name="adj" fmla="val 5775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Advantages and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90600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Comparing strengths and constraints.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291929"/>
            <a:ext cx="607575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66534"/>
                </a:solidFill>
                <a:latin typeface="Plus Jakarta Sans"/>
              </a:rP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825" y="3291929"/>
            <a:ext cx="55911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91B1B"/>
                </a:solidFill>
                <a:latin typeface="Plus Jakarta Sans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680549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682454"/>
            <a:ext cx="5548312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66534"/>
                </a:solidFill>
                <a:latin typeface="Plus Jakarta Sans"/>
              </a:rPr>
              <a:t>Handles negative edge weights.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000529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002434"/>
            <a:ext cx="5548312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66534"/>
                </a:solidFill>
                <a:latin typeface="Plus Jakarta Sans"/>
              </a:rPr>
              <a:t>Detects reachable negative-weight cycles.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32051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66534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4322415"/>
            <a:ext cx="5548312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166534"/>
                </a:solidFill>
                <a:latin typeface="Plus Jakarta Sans"/>
              </a:rPr>
              <a:t>Single-source shortest distances.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3680549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1325" y="3682454"/>
            <a:ext cx="540067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91B1B"/>
                </a:solidFill>
                <a:latin typeface="Plus Jakarta Sans"/>
              </a:rPr>
              <a:t>Slower than Dijkstra on non-negative weights.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4000529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1325" y="4002434"/>
            <a:ext cx="540067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91B1B"/>
                </a:solidFill>
                <a:latin typeface="Plus Jakarta Sans"/>
              </a:rPr>
              <a:t>Expensive running time on dense graphs.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4320510"/>
            <a:ext cx="857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91B1B"/>
                </a:solidFill>
                <a:latin typeface="Plus Jakarta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25" y="4322415"/>
            <a:ext cx="5400675" cy="243780"/>
          </a:xfrm>
          <a:prstGeom prst="rect">
            <a:avLst/>
          </a:prstGeom>
          <a:noFill/>
        </p:spPr>
        <p:txBody>
          <a:bodyPr wrap="none" lIns="85725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991B1B"/>
                </a:solidFill>
                <a:latin typeface="Plus Jakarta Sans"/>
              </a:rPr>
              <a:t>Negative cycles prevent finite distances.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19750" y="2433637"/>
            <a:ext cx="952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JetBrains Mono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536" y="2795587"/>
            <a:ext cx="3412926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Plus Jakarta Sans"/>
              </a:rPr>
              <a:t>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5843" y="3481387"/>
            <a:ext cx="10120312" cy="942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The Bellman–Ford algorithm combines repeated edge relaxation with negative-cycle detection to solve the single-source shortest-path problem, even when some edge weights are negative.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766</Words>
  <Application>Microsoft Office PowerPoint</Application>
  <PresentationFormat>Widescreen</PresentationFormat>
  <Paragraphs>104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JetBrains Mono</vt:lpstr>
      <vt:lpstr>Plus Jakarta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Prisha Gattuwar</cp:lastModifiedBy>
  <cp:revision>3</cp:revision>
  <dcterms:created xsi:type="dcterms:W3CDTF">2013-01-27T09:14:16Z</dcterms:created>
  <dcterms:modified xsi:type="dcterms:W3CDTF">2026-10-19T04:57:19Z</dcterms:modified>
  <cp:category/>
</cp:coreProperties>
</file>